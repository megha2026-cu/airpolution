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FF769-8A97-4B8B-B1F2-CB4C92A5AC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CED29-0FE3-41A3-ADAD-3AB707DA76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CA4B3C-280C-4032-8B62-634E1CB8DC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92548-61AF-42B4-90D2-4CA6602808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5F6F2F-9C5C-4118-BC6D-D0AB59418A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E3B6F6-802B-4C16-9B35-5FEEEAE104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CB4850-C2D2-4102-9378-3849B6245D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4CDC67-07A1-4611-9CC1-9EC725D0C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DA31A-F011-4109-871F-4A0D8A987D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41102F-2077-48DF-A4D3-C7207C0939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9D7168-EE57-478F-83F4-9678E82758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166208-A299-4261-B207-DE1FA3ADA3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948921-082E-4091-B76F-98F0293B371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5303520"/>
            <a:ext cx="12188520" cy="54360"/>
          </a:xfrm>
          <a:prstGeom prst="rect">
            <a:avLst/>
          </a:prstGeom>
          <a:solidFill>
            <a:srgbClr val="00b0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3"/>
          <p:cNvSpPr/>
          <p:nvPr/>
        </p:nvSpPr>
        <p:spPr>
          <a:xfrm>
            <a:off x="914400" y="914400"/>
            <a:ext cx="10359720" cy="3474360"/>
          </a:xfrm>
          <a:prstGeom prst="rect">
            <a:avLst/>
          </a:prstGeom>
          <a:solidFill>
            <a:srgbClr val="223a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4"/>
          <p:cNvSpPr/>
          <p:nvPr/>
        </p:nvSpPr>
        <p:spPr>
          <a:xfrm>
            <a:off x="914400" y="914400"/>
            <a:ext cx="109440" cy="3474360"/>
          </a:xfrm>
          <a:prstGeom prst="rect">
            <a:avLst/>
          </a:prstGeom>
          <a:solidFill>
            <a:srgbClr val="00b0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5"/>
          <p:cNvSpPr/>
          <p:nvPr/>
        </p:nvSpPr>
        <p:spPr>
          <a:xfrm>
            <a:off x="1143000" y="109728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Air Quality Monitoring &amp;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1143000" y="2011680"/>
            <a:ext cx="10058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00b0d8"/>
                </a:solidFill>
                <a:latin typeface="Calibri"/>
              </a:rPr>
              <a:t>Pollution Trend Visualization Dashboard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6" name="TextBox 8"/>
          <p:cNvSpPr/>
          <p:nvPr/>
        </p:nvSpPr>
        <p:spPr>
          <a:xfrm>
            <a:off x="1097280" y="5559480"/>
            <a:ext cx="5486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0a8d0"/>
                </a:solidFill>
                <a:latin typeface="Calibri"/>
              </a:rPr>
              <a:t>Plag Pro, Noida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0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5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" name="Rectangle 6"/>
          <p:cNvSpPr/>
          <p:nvPr/>
        </p:nvSpPr>
        <p:spPr>
          <a:xfrm>
            <a:off x="365760" y="137160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7"/>
          <p:cNvSpPr/>
          <p:nvPr/>
        </p:nvSpPr>
        <p:spPr>
          <a:xfrm>
            <a:off x="365760" y="140832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Rectangle 8"/>
          <p:cNvSpPr/>
          <p:nvPr/>
        </p:nvSpPr>
        <p:spPr>
          <a:xfrm>
            <a:off x="841320" y="137160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9"/>
          <p:cNvSpPr/>
          <p:nvPr/>
        </p:nvSpPr>
        <p:spPr>
          <a:xfrm>
            <a:off x="960120" y="144468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Project Overview &amp; Objectives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Rectangle 10"/>
          <p:cNvSpPr/>
          <p:nvPr/>
        </p:nvSpPr>
        <p:spPr>
          <a:xfrm>
            <a:off x="6309360" y="137160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11"/>
          <p:cNvSpPr/>
          <p:nvPr/>
        </p:nvSpPr>
        <p:spPr>
          <a:xfrm>
            <a:off x="6309360" y="140832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Rectangle 12"/>
          <p:cNvSpPr/>
          <p:nvPr/>
        </p:nvSpPr>
        <p:spPr>
          <a:xfrm>
            <a:off x="6784920" y="137160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13"/>
          <p:cNvSpPr/>
          <p:nvPr/>
        </p:nvSpPr>
        <p:spPr>
          <a:xfrm>
            <a:off x="6903720" y="144468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System Architecture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Rectangle 14"/>
          <p:cNvSpPr/>
          <p:nvPr/>
        </p:nvSpPr>
        <p:spPr>
          <a:xfrm>
            <a:off x="365760" y="189288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15"/>
          <p:cNvSpPr/>
          <p:nvPr/>
        </p:nvSpPr>
        <p:spPr>
          <a:xfrm>
            <a:off x="365760" y="192924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2" name="Rectangle 16"/>
          <p:cNvSpPr/>
          <p:nvPr/>
        </p:nvSpPr>
        <p:spPr>
          <a:xfrm>
            <a:off x="841320" y="189288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17"/>
          <p:cNvSpPr/>
          <p:nvPr/>
        </p:nvSpPr>
        <p:spPr>
          <a:xfrm>
            <a:off x="960120" y="196596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Database Design &amp; Schema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Rectangle 18"/>
          <p:cNvSpPr/>
          <p:nvPr/>
        </p:nvSpPr>
        <p:spPr>
          <a:xfrm>
            <a:off x="6309360" y="189288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19"/>
          <p:cNvSpPr/>
          <p:nvPr/>
        </p:nvSpPr>
        <p:spPr>
          <a:xfrm>
            <a:off x="6309360" y="192924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Rectangle 20"/>
          <p:cNvSpPr/>
          <p:nvPr/>
        </p:nvSpPr>
        <p:spPr>
          <a:xfrm>
            <a:off x="6784920" y="189288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21"/>
          <p:cNvSpPr/>
          <p:nvPr/>
        </p:nvSpPr>
        <p:spPr>
          <a:xfrm>
            <a:off x="6903720" y="196596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ETL Pipeline — Data Ingestion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Rectangle 22"/>
          <p:cNvSpPr/>
          <p:nvPr/>
        </p:nvSpPr>
        <p:spPr>
          <a:xfrm>
            <a:off x="365760" y="241416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23"/>
          <p:cNvSpPr/>
          <p:nvPr/>
        </p:nvSpPr>
        <p:spPr>
          <a:xfrm>
            <a:off x="365760" y="245052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Rectangle 24"/>
          <p:cNvSpPr/>
          <p:nvPr/>
        </p:nvSpPr>
        <p:spPr>
          <a:xfrm>
            <a:off x="841320" y="241416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25"/>
          <p:cNvSpPr/>
          <p:nvPr/>
        </p:nvSpPr>
        <p:spPr>
          <a:xfrm>
            <a:off x="960120" y="248724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REST API — Endpoints &amp; Security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2" name="Rectangle 26"/>
          <p:cNvSpPr/>
          <p:nvPr/>
        </p:nvSpPr>
        <p:spPr>
          <a:xfrm>
            <a:off x="6309360" y="241416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27"/>
          <p:cNvSpPr/>
          <p:nvPr/>
        </p:nvSpPr>
        <p:spPr>
          <a:xfrm>
            <a:off x="6309360" y="245052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Rectangle 28"/>
          <p:cNvSpPr/>
          <p:nvPr/>
        </p:nvSpPr>
        <p:spPr>
          <a:xfrm>
            <a:off x="6784920" y="241416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29"/>
          <p:cNvSpPr/>
          <p:nvPr/>
        </p:nvSpPr>
        <p:spPr>
          <a:xfrm>
            <a:off x="6903720" y="248724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Interactive Dashboard &amp; Visualizations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Rectangle 30"/>
          <p:cNvSpPr/>
          <p:nvPr/>
        </p:nvSpPr>
        <p:spPr>
          <a:xfrm>
            <a:off x="365760" y="293508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31"/>
          <p:cNvSpPr/>
          <p:nvPr/>
        </p:nvSpPr>
        <p:spPr>
          <a:xfrm>
            <a:off x="365760" y="297180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Rectangle 32"/>
          <p:cNvSpPr/>
          <p:nvPr/>
        </p:nvSpPr>
        <p:spPr>
          <a:xfrm>
            <a:off x="841320" y="293508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33"/>
          <p:cNvSpPr/>
          <p:nvPr/>
        </p:nvSpPr>
        <p:spPr>
          <a:xfrm>
            <a:off x="960120" y="30085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KPIs, Forecasting &amp; Alert System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Rectangle 34"/>
          <p:cNvSpPr/>
          <p:nvPr/>
        </p:nvSpPr>
        <p:spPr>
          <a:xfrm>
            <a:off x="6309360" y="293508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35"/>
          <p:cNvSpPr/>
          <p:nvPr/>
        </p:nvSpPr>
        <p:spPr>
          <a:xfrm>
            <a:off x="6309360" y="297180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Rectangle 36"/>
          <p:cNvSpPr/>
          <p:nvPr/>
        </p:nvSpPr>
        <p:spPr>
          <a:xfrm>
            <a:off x="6784920" y="293508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37"/>
          <p:cNvSpPr/>
          <p:nvPr/>
        </p:nvSpPr>
        <p:spPr>
          <a:xfrm>
            <a:off x="6903720" y="30085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System Testing Results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Rectangle 38"/>
          <p:cNvSpPr/>
          <p:nvPr/>
        </p:nvSpPr>
        <p:spPr>
          <a:xfrm>
            <a:off x="365760" y="345636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39"/>
          <p:cNvSpPr/>
          <p:nvPr/>
        </p:nvSpPr>
        <p:spPr>
          <a:xfrm>
            <a:off x="365760" y="349308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09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Rectangle 40"/>
          <p:cNvSpPr/>
          <p:nvPr/>
        </p:nvSpPr>
        <p:spPr>
          <a:xfrm>
            <a:off x="841320" y="345636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41"/>
          <p:cNvSpPr/>
          <p:nvPr/>
        </p:nvSpPr>
        <p:spPr>
          <a:xfrm>
            <a:off x="960120" y="352944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Environmental Insights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8" name="Rectangle 42"/>
          <p:cNvSpPr/>
          <p:nvPr/>
        </p:nvSpPr>
        <p:spPr>
          <a:xfrm>
            <a:off x="6309360" y="3456360"/>
            <a:ext cx="475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TextBox 43"/>
          <p:cNvSpPr/>
          <p:nvPr/>
        </p:nvSpPr>
        <p:spPr>
          <a:xfrm>
            <a:off x="6309360" y="3493080"/>
            <a:ext cx="475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0" name="Rectangle 44"/>
          <p:cNvSpPr/>
          <p:nvPr/>
        </p:nvSpPr>
        <p:spPr>
          <a:xfrm>
            <a:off x="6784920" y="3456360"/>
            <a:ext cx="5257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45"/>
          <p:cNvSpPr/>
          <p:nvPr/>
        </p:nvSpPr>
        <p:spPr>
          <a:xfrm>
            <a:off x="6903720" y="352944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b2a4a"/>
                </a:solidFill>
                <a:latin typeface="Calibri"/>
              </a:rPr>
              <a:t>Deliverables &amp; Conclusion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Project Overview &amp; Objectives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Full-stack air quality monitoring solution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8" name="Rectangle 7"/>
          <p:cNvSpPr/>
          <p:nvPr/>
        </p:nvSpPr>
        <p:spPr>
          <a:xfrm>
            <a:off x="274320" y="1325880"/>
            <a:ext cx="7406280" cy="484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8"/>
          <p:cNvSpPr/>
          <p:nvPr/>
        </p:nvSpPr>
        <p:spPr>
          <a:xfrm>
            <a:off x="274320" y="1325880"/>
            <a:ext cx="7406280" cy="347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9"/>
          <p:cNvSpPr/>
          <p:nvPr/>
        </p:nvSpPr>
        <p:spPr>
          <a:xfrm>
            <a:off x="411480" y="1371600"/>
            <a:ext cx="7223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What we built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1480" y="1737360"/>
            <a:ext cx="7086240" cy="19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Interactive web dashboard monitoring 10 major Indian cities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Tracks AQI, PM2.5, PM10, CO, NO2, SO2, O3, Temperature &amp; Humidity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Full pipeline: simulation  ETL  MySQL  REST API  Chart.js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7-day AQI forecast with confidence scoring per city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Automated hazard alerts when AQI exceeds 300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Filters: city, date range, pollutant type, AQI category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Responsive layout for desktop and mobile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27-test automated API test suite — all passing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7909560" y="1325880"/>
            <a:ext cx="3977280" cy="484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12"/>
          <p:cNvSpPr/>
          <p:nvPr/>
        </p:nvSpPr>
        <p:spPr>
          <a:xfrm>
            <a:off x="7909560" y="1325880"/>
            <a:ext cx="3977280" cy="347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13"/>
          <p:cNvSpPr/>
          <p:nvPr/>
        </p:nvSpPr>
        <p:spPr>
          <a:xfrm>
            <a:off x="8046720" y="1371600"/>
            <a:ext cx="3748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At a glance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Rectangle 14"/>
          <p:cNvSpPr/>
          <p:nvPr/>
        </p:nvSpPr>
        <p:spPr>
          <a:xfrm>
            <a:off x="8001000" y="178308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15"/>
          <p:cNvSpPr/>
          <p:nvPr/>
        </p:nvSpPr>
        <p:spPr>
          <a:xfrm>
            <a:off x="8001000" y="181980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9070920" y="189288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Cities monitored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Rectangle 17"/>
          <p:cNvSpPr/>
          <p:nvPr/>
        </p:nvSpPr>
        <p:spPr>
          <a:xfrm>
            <a:off x="8001000" y="244152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18"/>
          <p:cNvSpPr/>
          <p:nvPr/>
        </p:nvSpPr>
        <p:spPr>
          <a:xfrm>
            <a:off x="8001000" y="247788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0" name="TextBox 19"/>
          <p:cNvSpPr/>
          <p:nvPr/>
        </p:nvSpPr>
        <p:spPr>
          <a:xfrm>
            <a:off x="9070920" y="255132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Pollutants tracked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Rectangle 20"/>
          <p:cNvSpPr/>
          <p:nvPr/>
        </p:nvSpPr>
        <p:spPr>
          <a:xfrm>
            <a:off x="8001000" y="309996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21"/>
          <p:cNvSpPr/>
          <p:nvPr/>
        </p:nvSpPr>
        <p:spPr>
          <a:xfrm>
            <a:off x="8001000" y="313632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1,240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3" name="TextBox 22"/>
          <p:cNvSpPr/>
          <p:nvPr/>
        </p:nvSpPr>
        <p:spPr>
          <a:xfrm>
            <a:off x="9070920" y="320940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Data records seeded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Rectangle 23"/>
          <p:cNvSpPr/>
          <p:nvPr/>
        </p:nvSpPr>
        <p:spPr>
          <a:xfrm>
            <a:off x="8001000" y="375804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24"/>
          <p:cNvSpPr/>
          <p:nvPr/>
        </p:nvSpPr>
        <p:spPr>
          <a:xfrm>
            <a:off x="8001000" y="379476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Box 25"/>
          <p:cNvSpPr/>
          <p:nvPr/>
        </p:nvSpPr>
        <p:spPr>
          <a:xfrm>
            <a:off x="9070920" y="386784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API endpoints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Rectangle 26"/>
          <p:cNvSpPr/>
          <p:nvPr/>
        </p:nvSpPr>
        <p:spPr>
          <a:xfrm>
            <a:off x="8001000" y="441648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27"/>
          <p:cNvSpPr/>
          <p:nvPr/>
        </p:nvSpPr>
        <p:spPr>
          <a:xfrm>
            <a:off x="8001000" y="445320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TextBox 28"/>
          <p:cNvSpPr/>
          <p:nvPr/>
        </p:nvSpPr>
        <p:spPr>
          <a:xfrm>
            <a:off x="9070920" y="452628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Dashboard charts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Rectangle 29"/>
          <p:cNvSpPr/>
          <p:nvPr/>
        </p:nvSpPr>
        <p:spPr>
          <a:xfrm>
            <a:off x="8001000" y="507492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30"/>
          <p:cNvSpPr/>
          <p:nvPr/>
        </p:nvSpPr>
        <p:spPr>
          <a:xfrm>
            <a:off x="8001000" y="511164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27/27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Box 31"/>
          <p:cNvSpPr/>
          <p:nvPr/>
        </p:nvSpPr>
        <p:spPr>
          <a:xfrm>
            <a:off x="9070920" y="518472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Tests passing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Rectangle 32"/>
          <p:cNvSpPr/>
          <p:nvPr/>
        </p:nvSpPr>
        <p:spPr>
          <a:xfrm>
            <a:off x="8001000" y="5733360"/>
            <a:ext cx="1005480" cy="5025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33"/>
          <p:cNvSpPr/>
          <p:nvPr/>
        </p:nvSpPr>
        <p:spPr>
          <a:xfrm>
            <a:off x="8001000" y="5769720"/>
            <a:ext cx="1005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14/14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Box 34"/>
          <p:cNvSpPr/>
          <p:nvPr/>
        </p:nvSpPr>
        <p:spPr>
          <a:xfrm>
            <a:off x="9070920" y="5843160"/>
            <a:ext cx="265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Requirements met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System Architecture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3-Tier — Presentation  Application  Data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274320" y="1325880"/>
            <a:ext cx="3748680" cy="45684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8"/>
          <p:cNvSpPr/>
          <p:nvPr/>
        </p:nvSpPr>
        <p:spPr>
          <a:xfrm>
            <a:off x="365760" y="1371600"/>
            <a:ext cx="3565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PRESENTATION TIER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Rectangle 9"/>
          <p:cNvSpPr/>
          <p:nvPr/>
        </p:nvSpPr>
        <p:spPr>
          <a:xfrm>
            <a:off x="274320" y="1783080"/>
            <a:ext cx="3748680" cy="411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10"/>
          <p:cNvSpPr/>
          <p:nvPr/>
        </p:nvSpPr>
        <p:spPr>
          <a:xfrm>
            <a:off x="438840" y="1920240"/>
            <a:ext cx="347436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HTML5 + CSS3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Vanilla JavaScript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Chart.js (6 charts)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Responsive CSS Grid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Auto-refresh every 5 min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Rectangle 11"/>
          <p:cNvSpPr/>
          <p:nvPr/>
        </p:nvSpPr>
        <p:spPr>
          <a:xfrm>
            <a:off x="4160520" y="1325880"/>
            <a:ext cx="3748680" cy="4568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12"/>
          <p:cNvSpPr/>
          <p:nvPr/>
        </p:nvSpPr>
        <p:spPr>
          <a:xfrm>
            <a:off x="4251960" y="1371600"/>
            <a:ext cx="3565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APPLICATION TIER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Rectangle 13"/>
          <p:cNvSpPr/>
          <p:nvPr/>
        </p:nvSpPr>
        <p:spPr>
          <a:xfrm>
            <a:off x="4160520" y="1783080"/>
            <a:ext cx="3748680" cy="411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14"/>
          <p:cNvSpPr/>
          <p:nvPr/>
        </p:nvSpPr>
        <p:spPr>
          <a:xfrm>
            <a:off x="4325040" y="1920240"/>
            <a:ext cx="347436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Node.js v18 + Express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Joi input validation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Helmet security headers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Rate limiting (100 req/15 min)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node-cron scheduled jobs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Rectangle 15"/>
          <p:cNvSpPr/>
          <p:nvPr/>
        </p:nvSpPr>
        <p:spPr>
          <a:xfrm>
            <a:off x="8046720" y="1325880"/>
            <a:ext cx="3748680" cy="456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TextBox 16"/>
          <p:cNvSpPr/>
          <p:nvPr/>
        </p:nvSpPr>
        <p:spPr>
          <a:xfrm>
            <a:off x="8138160" y="1371600"/>
            <a:ext cx="3565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DATA TIER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2" name="Rectangle 17"/>
          <p:cNvSpPr/>
          <p:nvPr/>
        </p:nvSpPr>
        <p:spPr>
          <a:xfrm>
            <a:off x="8046720" y="1783080"/>
            <a:ext cx="3748680" cy="411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18"/>
          <p:cNvSpPr/>
          <p:nvPr/>
        </p:nvSpPr>
        <p:spPr>
          <a:xfrm>
            <a:off x="8211240" y="1920240"/>
            <a:ext cx="347436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MySQL 8 database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4 normalized tables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Time-series indexed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Generated aqi_category col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FK constraints + CASCADE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3840480" y="347472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Box 20"/>
          <p:cNvSpPr/>
          <p:nvPr/>
        </p:nvSpPr>
        <p:spPr>
          <a:xfrm>
            <a:off x="3858840" y="3401640"/>
            <a:ext cx="365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2e7d32"/>
                </a:solidFill>
                <a:latin typeface="Calibri"/>
              </a:rPr>
              <a:t>&gt;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7726680" y="3401640"/>
            <a:ext cx="365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b2a4a"/>
                </a:solidFill>
                <a:latin typeface="Calibri"/>
              </a:rPr>
              <a:t>&gt;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Database Design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MySQL 8  —  4 Normalized Tables  —  air_quality_db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3" name="Rectangle 7"/>
          <p:cNvSpPr/>
          <p:nvPr/>
        </p:nvSpPr>
        <p:spPr>
          <a:xfrm>
            <a:off x="274320" y="1325880"/>
            <a:ext cx="356580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8"/>
          <p:cNvSpPr/>
          <p:nvPr/>
        </p:nvSpPr>
        <p:spPr>
          <a:xfrm>
            <a:off x="384120" y="1389960"/>
            <a:ext cx="3382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locations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274320" y="1710000"/>
            <a:ext cx="3565800" cy="2441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10"/>
          <p:cNvSpPr/>
          <p:nvPr/>
        </p:nvSpPr>
        <p:spPr>
          <a:xfrm>
            <a:off x="420480" y="1783080"/>
            <a:ext cx="3364560" cy="14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id  PK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state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country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latitude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longitude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created_at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Rectangle 11"/>
          <p:cNvSpPr/>
          <p:nvPr/>
        </p:nvSpPr>
        <p:spPr>
          <a:xfrm>
            <a:off x="4114800" y="1325880"/>
            <a:ext cx="35658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12"/>
          <p:cNvSpPr/>
          <p:nvPr/>
        </p:nvSpPr>
        <p:spPr>
          <a:xfrm>
            <a:off x="4224600" y="1389960"/>
            <a:ext cx="3382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air_quality_readings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9" name="Rectangle 13"/>
          <p:cNvSpPr/>
          <p:nvPr/>
        </p:nvSpPr>
        <p:spPr>
          <a:xfrm>
            <a:off x="4114800" y="1710000"/>
            <a:ext cx="3565800" cy="311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14"/>
          <p:cNvSpPr/>
          <p:nvPr/>
        </p:nvSpPr>
        <p:spPr>
          <a:xfrm>
            <a:off x="4260960" y="1783080"/>
            <a:ext cx="336456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id  PK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location_id  FK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recorded_at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aqi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pm25 / pm10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co / no2 / so2 / o3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temperature / humidity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aqi_category  (computed)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source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Rectangle 15"/>
          <p:cNvSpPr/>
          <p:nvPr/>
        </p:nvSpPr>
        <p:spPr>
          <a:xfrm>
            <a:off x="4114800" y="4297680"/>
            <a:ext cx="3565800" cy="38376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16"/>
          <p:cNvSpPr/>
          <p:nvPr/>
        </p:nvSpPr>
        <p:spPr>
          <a:xfrm>
            <a:off x="4224600" y="4361760"/>
            <a:ext cx="3382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aqi_forecasts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Rectangle 17"/>
          <p:cNvSpPr/>
          <p:nvPr/>
        </p:nvSpPr>
        <p:spPr>
          <a:xfrm>
            <a:off x="4114800" y="4681800"/>
            <a:ext cx="3565800" cy="21027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TextBox 18"/>
          <p:cNvSpPr/>
          <p:nvPr/>
        </p:nvSpPr>
        <p:spPr>
          <a:xfrm>
            <a:off x="4260960" y="4754880"/>
            <a:ext cx="336456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id  PK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location_id  FK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forecast_date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predicted_aqi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confidence_pct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model_version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Rectangle 19"/>
          <p:cNvSpPr/>
          <p:nvPr/>
        </p:nvSpPr>
        <p:spPr>
          <a:xfrm>
            <a:off x="8229600" y="1325880"/>
            <a:ext cx="3565800" cy="3837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20"/>
          <p:cNvSpPr/>
          <p:nvPr/>
        </p:nvSpPr>
        <p:spPr>
          <a:xfrm>
            <a:off x="8339400" y="1389960"/>
            <a:ext cx="3382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alerts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Rectangle 21"/>
          <p:cNvSpPr/>
          <p:nvPr/>
        </p:nvSpPr>
        <p:spPr>
          <a:xfrm>
            <a:off x="8229600" y="1710000"/>
            <a:ext cx="3565800" cy="2441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6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22"/>
          <p:cNvSpPr/>
          <p:nvPr/>
        </p:nvSpPr>
        <p:spPr>
          <a:xfrm>
            <a:off x="8375760" y="1783080"/>
            <a:ext cx="3364560" cy="14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id  PK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location_id  FK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triggered_at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aqi_threshold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actual_aqi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message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resolved_at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TextBox 23"/>
          <p:cNvSpPr/>
          <p:nvPr/>
        </p:nvSpPr>
        <p:spPr>
          <a:xfrm>
            <a:off x="3703320" y="242316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</a:rPr>
              <a:t>1  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0" name="TextBox 24"/>
          <p:cNvSpPr/>
          <p:nvPr/>
        </p:nvSpPr>
        <p:spPr>
          <a:xfrm>
            <a:off x="3703320" y="507492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6a1b9a"/>
                </a:solidFill>
                <a:latin typeface="Calibri"/>
              </a:rPr>
              <a:t>1  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1" name="TextBox 25"/>
          <p:cNvSpPr/>
          <p:nvPr/>
        </p:nvSpPr>
        <p:spPr>
          <a:xfrm>
            <a:off x="7863840" y="242316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c62828"/>
                </a:solidFill>
                <a:latin typeface="Calibri"/>
              </a:rPr>
              <a:t>1  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ETL Pipeline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data/etl_import.js  —  CSV to MySQL with data cleaning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6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8" name="Rectangle 7"/>
          <p:cNvSpPr/>
          <p:nvPr/>
        </p:nvSpPr>
        <p:spPr>
          <a:xfrm>
            <a:off x="274320" y="1325880"/>
            <a:ext cx="2742840" cy="48459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8"/>
          <p:cNvSpPr/>
          <p:nvPr/>
        </p:nvSpPr>
        <p:spPr>
          <a:xfrm>
            <a:off x="365760" y="1417320"/>
            <a:ext cx="2559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EXTRACT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384120" y="2176200"/>
            <a:ext cx="2523240" cy="388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10"/>
          <p:cNvSpPr/>
          <p:nvPr/>
        </p:nvSpPr>
        <p:spPr>
          <a:xfrm>
            <a:off x="438840" y="2267640"/>
            <a:ext cx="2422800" cy="10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Read CSV as stream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Auto-detect columns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Any CPCB/WHO format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Memory efficient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2" name="Rectangle 11"/>
          <p:cNvSpPr/>
          <p:nvPr/>
        </p:nvSpPr>
        <p:spPr>
          <a:xfrm>
            <a:off x="3246120" y="1325880"/>
            <a:ext cx="2742840" cy="48459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12"/>
          <p:cNvSpPr/>
          <p:nvPr/>
        </p:nvSpPr>
        <p:spPr>
          <a:xfrm>
            <a:off x="3337560" y="1417320"/>
            <a:ext cx="2559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TRANSFORM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3355920" y="2176200"/>
            <a:ext cx="2523240" cy="388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TextBox 14"/>
          <p:cNvSpPr/>
          <p:nvPr/>
        </p:nvSpPr>
        <p:spPr>
          <a:xfrm>
            <a:off x="3410640" y="2267640"/>
            <a:ext cx="242280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Validate dates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Detect outliers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Clamp to valid range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Handle missing  NULL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Normalise units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6" name="Rectangle 15"/>
          <p:cNvSpPr/>
          <p:nvPr/>
        </p:nvSpPr>
        <p:spPr>
          <a:xfrm>
            <a:off x="6217920" y="1325880"/>
            <a:ext cx="2742840" cy="48459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6"/>
          <p:cNvSpPr/>
          <p:nvPr/>
        </p:nvSpPr>
        <p:spPr>
          <a:xfrm>
            <a:off x="6309360" y="1417320"/>
            <a:ext cx="2559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LOAD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6327720" y="2176200"/>
            <a:ext cx="2523240" cy="388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18"/>
          <p:cNvSpPr/>
          <p:nvPr/>
        </p:nvSpPr>
        <p:spPr>
          <a:xfrm>
            <a:off x="6382440" y="2267640"/>
            <a:ext cx="2422800" cy="10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Batch 200 rows/query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Auto-create cities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INSERT IGNORE dupes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    </a:t>
            </a:r>
            <a:r>
              <a:rPr b="0" lang="en-US" sz="1200" spc="-1" strike="noStrike">
                <a:solidFill>
                  <a:srgbClr val="444444"/>
                </a:solidFill>
                <a:latin typeface="Calibri"/>
              </a:rPr>
              <a:t>Dry-run mode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2926080" y="3246120"/>
            <a:ext cx="383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&gt;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1" name="TextBox 20"/>
          <p:cNvSpPr/>
          <p:nvPr/>
        </p:nvSpPr>
        <p:spPr>
          <a:xfrm>
            <a:off x="5897880" y="3246120"/>
            <a:ext cx="383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&gt;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9235440" y="1325880"/>
            <a:ext cx="2651400" cy="484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Rectangle 22"/>
          <p:cNvSpPr/>
          <p:nvPr/>
        </p:nvSpPr>
        <p:spPr>
          <a:xfrm>
            <a:off x="9235440" y="1325880"/>
            <a:ext cx="2651400" cy="347040"/>
          </a:xfrm>
          <a:prstGeom prst="rect">
            <a:avLst/>
          </a:prstGeom>
          <a:solidFill>
            <a:srgbClr val="37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TextBox 23"/>
          <p:cNvSpPr/>
          <p:nvPr/>
        </p:nvSpPr>
        <p:spPr>
          <a:xfrm>
            <a:off x="9326880" y="137160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Summary 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Box 24"/>
          <p:cNvSpPr/>
          <p:nvPr/>
        </p:nvSpPr>
        <p:spPr>
          <a:xfrm>
            <a:off x="9345240" y="1737360"/>
            <a:ext cx="2422800" cy="21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Lines processed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Rows inserted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Rows skipped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Outliers found &amp; clamped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Usage: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node etl_import.js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--file=data.csv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[--dry-run]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REST API — Endpoints &amp; Security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Node.js v18 + Express  |  Port 3000  |  11 Endpoints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graphicFrame>
        <p:nvGraphicFramePr>
          <p:cNvPr id="202" name="Table 7"/>
          <p:cNvGraphicFramePr/>
          <p:nvPr/>
        </p:nvGraphicFramePr>
        <p:xfrm>
          <a:off x="274320" y="1325880"/>
          <a:ext cx="11612520" cy="460836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539496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/api/health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Server health check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/api/locations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List all monitored cities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POST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/api/locations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Register a new city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Raw readings filtered by city, date, pollutant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/api/readings/latest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Most recent reading per city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/api/readings/daily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Daily avg / max / min AQI summary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/api/readings/hourly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Hourly average AQI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/api/readings/peak-hours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Peak pollution hour breakdown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/api/readings/category-breakdown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AQI category % distribution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/api/forecast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7-day AQI forecast per city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8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GET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/api/alerts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444444"/>
                          </a:solidFill>
                          <a:latin typeface="Calibri"/>
                        </a:rPr>
                        <a:t>All active hazard alerts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Rectangle 8"/>
          <p:cNvSpPr/>
          <p:nvPr/>
        </p:nvSpPr>
        <p:spPr>
          <a:xfrm>
            <a:off x="274320" y="5806440"/>
            <a:ext cx="11612520" cy="594000"/>
          </a:xfrm>
          <a:prstGeom prst="rect">
            <a:avLst/>
          </a:prstGeom>
          <a:solidFill>
            <a:srgbClr val="e8f0fe"/>
          </a:solidFill>
          <a:ln w="635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9"/>
          <p:cNvSpPr/>
          <p:nvPr/>
        </p:nvSpPr>
        <p:spPr>
          <a:xfrm>
            <a:off x="457200" y="5879520"/>
            <a:ext cx="1124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b2a4a"/>
                </a:solidFill>
                <a:latin typeface="Calibri"/>
              </a:rPr>
              <a:t>Security:  Helmet headers   Joi validation   Rate limiting (100 req/IP/15 min)   Parameterized SQL   .env credentials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Interactive Dashboard &amp; Visualizations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Chart.js  |  Vanilla JS  |  Responsive CSS Grid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274320" y="135324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Rectangle 8"/>
          <p:cNvSpPr/>
          <p:nvPr/>
        </p:nvSpPr>
        <p:spPr>
          <a:xfrm>
            <a:off x="274320" y="1353240"/>
            <a:ext cx="3748680" cy="36540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9"/>
          <p:cNvSpPr/>
          <p:nvPr/>
        </p:nvSpPr>
        <p:spPr>
          <a:xfrm>
            <a:off x="384120" y="141732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AQI Trend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Rectangle 10"/>
          <p:cNvSpPr/>
          <p:nvPr/>
        </p:nvSpPr>
        <p:spPr>
          <a:xfrm>
            <a:off x="384120" y="181044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TextBox 11"/>
          <p:cNvSpPr/>
          <p:nvPr/>
        </p:nvSpPr>
        <p:spPr>
          <a:xfrm>
            <a:off x="420480" y="182880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Line chart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384120" y="217620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Historical AQI over selected date range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Rectangle 13"/>
          <p:cNvSpPr/>
          <p:nvPr/>
        </p:nvSpPr>
        <p:spPr>
          <a:xfrm>
            <a:off x="4251960" y="135324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Rectangle 14"/>
          <p:cNvSpPr/>
          <p:nvPr/>
        </p:nvSpPr>
        <p:spPr>
          <a:xfrm>
            <a:off x="4251960" y="1353240"/>
            <a:ext cx="3748680" cy="3654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TextBox 15"/>
          <p:cNvSpPr/>
          <p:nvPr/>
        </p:nvSpPr>
        <p:spPr>
          <a:xfrm>
            <a:off x="4361760" y="141732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Daily Summary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Rectangle 16"/>
          <p:cNvSpPr/>
          <p:nvPr/>
        </p:nvSpPr>
        <p:spPr>
          <a:xfrm>
            <a:off x="4361760" y="181044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17"/>
          <p:cNvSpPr/>
          <p:nvPr/>
        </p:nvSpPr>
        <p:spPr>
          <a:xfrm>
            <a:off x="4398120" y="182880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Bar + Line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4361760" y="217620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Daily avg AQI with trend overlay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Rectangle 19"/>
          <p:cNvSpPr/>
          <p:nvPr/>
        </p:nvSpPr>
        <p:spPr>
          <a:xfrm>
            <a:off x="8229600" y="135324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Rectangle 20"/>
          <p:cNvSpPr/>
          <p:nvPr/>
        </p:nvSpPr>
        <p:spPr>
          <a:xfrm>
            <a:off x="8229600" y="1353240"/>
            <a:ext cx="374868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21"/>
          <p:cNvSpPr/>
          <p:nvPr/>
        </p:nvSpPr>
        <p:spPr>
          <a:xfrm>
            <a:off x="8339400" y="141732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Hourly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Rectangle 22"/>
          <p:cNvSpPr/>
          <p:nvPr/>
        </p:nvSpPr>
        <p:spPr>
          <a:xfrm>
            <a:off x="8339400" y="181044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23"/>
          <p:cNvSpPr/>
          <p:nvPr/>
        </p:nvSpPr>
        <p:spPr>
          <a:xfrm>
            <a:off x="8375760" y="182880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Bar chart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8339400" y="217620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Average AQI by hour of day (0-23)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Rectangle 25"/>
          <p:cNvSpPr/>
          <p:nvPr/>
        </p:nvSpPr>
        <p:spPr>
          <a:xfrm>
            <a:off x="274320" y="393192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Rectangle 26"/>
          <p:cNvSpPr/>
          <p:nvPr/>
        </p:nvSpPr>
        <p:spPr>
          <a:xfrm>
            <a:off x="274320" y="3931920"/>
            <a:ext cx="3748680" cy="36540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1" name="TextBox 27"/>
          <p:cNvSpPr/>
          <p:nvPr/>
        </p:nvSpPr>
        <p:spPr>
          <a:xfrm>
            <a:off x="384120" y="399600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Peak Hours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Rectangle 28"/>
          <p:cNvSpPr/>
          <p:nvPr/>
        </p:nvSpPr>
        <p:spPr>
          <a:xfrm>
            <a:off x="384120" y="438912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29"/>
          <p:cNvSpPr/>
          <p:nvPr/>
        </p:nvSpPr>
        <p:spPr>
          <a:xfrm>
            <a:off x="420480" y="440748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Horizontal Bar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4" name="TextBox 30"/>
          <p:cNvSpPr/>
          <p:nvPr/>
        </p:nvSpPr>
        <p:spPr>
          <a:xfrm>
            <a:off x="384120" y="475488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Top pollution hours ranked by avg AQI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Rectangle 31"/>
          <p:cNvSpPr/>
          <p:nvPr/>
        </p:nvSpPr>
        <p:spPr>
          <a:xfrm>
            <a:off x="4251960" y="393192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ectangle 32"/>
          <p:cNvSpPr/>
          <p:nvPr/>
        </p:nvSpPr>
        <p:spPr>
          <a:xfrm>
            <a:off x="4251960" y="3931920"/>
            <a:ext cx="3748680" cy="36540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33"/>
          <p:cNvSpPr/>
          <p:nvPr/>
        </p:nvSpPr>
        <p:spPr>
          <a:xfrm>
            <a:off x="4361760" y="399600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Category Breakdown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8" name="Rectangle 34"/>
          <p:cNvSpPr/>
          <p:nvPr/>
        </p:nvSpPr>
        <p:spPr>
          <a:xfrm>
            <a:off x="4361760" y="438912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35"/>
          <p:cNvSpPr/>
          <p:nvPr/>
        </p:nvSpPr>
        <p:spPr>
          <a:xfrm>
            <a:off x="4398120" y="440748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Doughnut chart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0" name="TextBox 36"/>
          <p:cNvSpPr/>
          <p:nvPr/>
        </p:nvSpPr>
        <p:spPr>
          <a:xfrm>
            <a:off x="4361760" y="475488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Good / Moderate / Poor / Severe 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1" name="Rectangle 37"/>
          <p:cNvSpPr/>
          <p:nvPr/>
        </p:nvSpPr>
        <p:spPr>
          <a:xfrm>
            <a:off x="8229600" y="3931920"/>
            <a:ext cx="3748680" cy="235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Rectangle 38"/>
          <p:cNvSpPr/>
          <p:nvPr/>
        </p:nvSpPr>
        <p:spPr>
          <a:xfrm>
            <a:off x="8229600" y="3931920"/>
            <a:ext cx="3748680" cy="365400"/>
          </a:xfrm>
          <a:prstGeom prst="rect">
            <a:avLst/>
          </a:prstGeom>
          <a:solidFill>
            <a:srgbClr val="00b0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TextBox 39"/>
          <p:cNvSpPr/>
          <p:nvPr/>
        </p:nvSpPr>
        <p:spPr>
          <a:xfrm>
            <a:off x="8339400" y="3996000"/>
            <a:ext cx="3547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7-Day Forecast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4" name="Rectangle 40"/>
          <p:cNvSpPr/>
          <p:nvPr/>
        </p:nvSpPr>
        <p:spPr>
          <a:xfrm>
            <a:off x="8339400" y="4389120"/>
            <a:ext cx="1416960" cy="255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41"/>
          <p:cNvSpPr/>
          <p:nvPr/>
        </p:nvSpPr>
        <p:spPr>
          <a:xfrm>
            <a:off x="8375760" y="4407480"/>
            <a:ext cx="1371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1a73e8"/>
                </a:solidFill>
                <a:latin typeface="Calibri"/>
              </a:rPr>
              <a:t>Line + bands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6" name="TextBox 42"/>
          <p:cNvSpPr/>
          <p:nvPr/>
        </p:nvSpPr>
        <p:spPr>
          <a:xfrm>
            <a:off x="8339400" y="4754880"/>
            <a:ext cx="352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Predicted AQI with confidence range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Rectangle 43"/>
          <p:cNvSpPr/>
          <p:nvPr/>
        </p:nvSpPr>
        <p:spPr>
          <a:xfrm>
            <a:off x="274320" y="6446520"/>
            <a:ext cx="11612520" cy="29232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44"/>
          <p:cNvSpPr/>
          <p:nvPr/>
        </p:nvSpPr>
        <p:spPr>
          <a:xfrm>
            <a:off x="457200" y="6473880"/>
            <a:ext cx="11246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Filters:  City    Date From/To    Pollutant (AQI / PM2.5 / PM10 / CO / NO2 / SO2 / O3)    Auto-refresh every 5 minutes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KPIs, Forecasting &amp; Alert System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Monitoring, prediction and automated hazard detection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5" name="Rectangle 7"/>
          <p:cNvSpPr/>
          <p:nvPr/>
        </p:nvSpPr>
        <p:spPr>
          <a:xfrm>
            <a:off x="274320" y="1371600"/>
            <a:ext cx="2651400" cy="1462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Rectangle 8"/>
          <p:cNvSpPr/>
          <p:nvPr/>
        </p:nvSpPr>
        <p:spPr>
          <a:xfrm>
            <a:off x="274320" y="1371600"/>
            <a:ext cx="2651400" cy="31068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9"/>
          <p:cNvSpPr/>
          <p:nvPr/>
        </p:nvSpPr>
        <p:spPr>
          <a:xfrm>
            <a:off x="365760" y="1417320"/>
            <a:ext cx="2486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Average AQI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TextBox 10"/>
          <p:cNvSpPr/>
          <p:nvPr/>
        </p:nvSpPr>
        <p:spPr>
          <a:xfrm>
            <a:off x="365760" y="1737360"/>
            <a:ext cx="24868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a73e8"/>
                </a:solidFill>
                <a:latin typeface="Calibri"/>
              </a:rPr>
              <a:t>AVG(aqi)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59" name="TextBox 11"/>
          <p:cNvSpPr/>
          <p:nvPr/>
        </p:nvSpPr>
        <p:spPr>
          <a:xfrm>
            <a:off x="365760" y="2423160"/>
            <a:ext cx="2486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88888"/>
                </a:solidFill>
                <a:latin typeface="Calibri"/>
              </a:rPr>
              <a:t>Over selected date range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0" name="Rectangle 12"/>
          <p:cNvSpPr/>
          <p:nvPr/>
        </p:nvSpPr>
        <p:spPr>
          <a:xfrm>
            <a:off x="3154680" y="1371600"/>
            <a:ext cx="2651400" cy="1462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Rectangle 13"/>
          <p:cNvSpPr/>
          <p:nvPr/>
        </p:nvSpPr>
        <p:spPr>
          <a:xfrm>
            <a:off x="3154680" y="1371600"/>
            <a:ext cx="2651400" cy="31068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14"/>
          <p:cNvSpPr/>
          <p:nvPr/>
        </p:nvSpPr>
        <p:spPr>
          <a:xfrm>
            <a:off x="3246120" y="1417320"/>
            <a:ext cx="2486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Peak AQI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Box 15"/>
          <p:cNvSpPr/>
          <p:nvPr/>
        </p:nvSpPr>
        <p:spPr>
          <a:xfrm>
            <a:off x="3246120" y="1737360"/>
            <a:ext cx="24868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b2a4a"/>
                </a:solidFill>
                <a:latin typeface="Calibri"/>
              </a:rPr>
              <a:t>MAX(aqi)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4" name="TextBox 16"/>
          <p:cNvSpPr/>
          <p:nvPr/>
        </p:nvSpPr>
        <p:spPr>
          <a:xfrm>
            <a:off x="3246120" y="2423160"/>
            <a:ext cx="2486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88888"/>
                </a:solidFill>
                <a:latin typeface="Calibri"/>
              </a:rPr>
              <a:t>Highest reading in period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5" name="Rectangle 17"/>
          <p:cNvSpPr/>
          <p:nvPr/>
        </p:nvSpPr>
        <p:spPr>
          <a:xfrm>
            <a:off x="6035040" y="1371600"/>
            <a:ext cx="2651400" cy="1462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Rectangle 18"/>
          <p:cNvSpPr/>
          <p:nvPr/>
        </p:nvSpPr>
        <p:spPr>
          <a:xfrm>
            <a:off x="6035040" y="1371600"/>
            <a:ext cx="2651400" cy="3106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19"/>
          <p:cNvSpPr/>
          <p:nvPr/>
        </p:nvSpPr>
        <p:spPr>
          <a:xfrm>
            <a:off x="6126480" y="1417320"/>
            <a:ext cx="2486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Safe Days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8" name="TextBox 20"/>
          <p:cNvSpPr/>
          <p:nvPr/>
        </p:nvSpPr>
        <p:spPr>
          <a:xfrm>
            <a:off x="6126480" y="1737360"/>
            <a:ext cx="24868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2e7d32"/>
                </a:solidFill>
                <a:latin typeface="Calibri"/>
              </a:rPr>
              <a:t>&lt;= 100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9" name="TextBox 21"/>
          <p:cNvSpPr/>
          <p:nvPr/>
        </p:nvSpPr>
        <p:spPr>
          <a:xfrm>
            <a:off x="6126480" y="2423160"/>
            <a:ext cx="2486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88888"/>
                </a:solidFill>
                <a:latin typeface="Calibri"/>
              </a:rPr>
              <a:t>Daily avg AQI &lt;= 100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0" name="Rectangle 22"/>
          <p:cNvSpPr/>
          <p:nvPr/>
        </p:nvSpPr>
        <p:spPr>
          <a:xfrm>
            <a:off x="8915400" y="1371600"/>
            <a:ext cx="2651400" cy="1462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Rectangle 23"/>
          <p:cNvSpPr/>
          <p:nvPr/>
        </p:nvSpPr>
        <p:spPr>
          <a:xfrm>
            <a:off x="8915400" y="1371600"/>
            <a:ext cx="2651400" cy="31068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24"/>
          <p:cNvSpPr/>
          <p:nvPr/>
        </p:nvSpPr>
        <p:spPr>
          <a:xfrm>
            <a:off x="9006840" y="1417320"/>
            <a:ext cx="2486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Hazardous Days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Box 25"/>
          <p:cNvSpPr/>
          <p:nvPr/>
        </p:nvSpPr>
        <p:spPr>
          <a:xfrm>
            <a:off x="9006840" y="1737360"/>
            <a:ext cx="24868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c62828"/>
                </a:solidFill>
                <a:latin typeface="Calibri"/>
              </a:rPr>
              <a:t>&gt; 300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4" name="TextBox 26"/>
          <p:cNvSpPr/>
          <p:nvPr/>
        </p:nvSpPr>
        <p:spPr>
          <a:xfrm>
            <a:off x="9006840" y="2423160"/>
            <a:ext cx="2486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88888"/>
                </a:solidFill>
                <a:latin typeface="Calibri"/>
              </a:rPr>
              <a:t>Daily avg AQI &gt; 300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5" name="Rectangle 27"/>
          <p:cNvSpPr/>
          <p:nvPr/>
        </p:nvSpPr>
        <p:spPr>
          <a:xfrm>
            <a:off x="274320" y="3108960"/>
            <a:ext cx="5623200" cy="3837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28"/>
          <p:cNvSpPr/>
          <p:nvPr/>
        </p:nvSpPr>
        <p:spPr>
          <a:xfrm>
            <a:off x="384120" y="3163680"/>
            <a:ext cx="5440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7-Day AQI Forecast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7" name="Rectangle 29"/>
          <p:cNvSpPr/>
          <p:nvPr/>
        </p:nvSpPr>
        <p:spPr>
          <a:xfrm>
            <a:off x="274320" y="3493080"/>
            <a:ext cx="5623200" cy="263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TextBox 30"/>
          <p:cNvSpPr/>
          <p:nvPr/>
        </p:nvSpPr>
        <p:spPr>
          <a:xfrm>
            <a:off x="384120" y="3566160"/>
            <a:ext cx="542196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14-day moving average as baseline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+/-10 AQI random jitter for realism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Confidence: 90% on day 1, 55% on day 7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Regenerated daily at 01:00 via cron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Stored in aqi_forecasts table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9" name="Rectangle 31"/>
          <p:cNvSpPr/>
          <p:nvPr/>
        </p:nvSpPr>
        <p:spPr>
          <a:xfrm>
            <a:off x="6172200" y="3108960"/>
            <a:ext cx="5714640" cy="3837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TextBox 32"/>
          <p:cNvSpPr/>
          <p:nvPr/>
        </p:nvSpPr>
        <p:spPr>
          <a:xfrm>
            <a:off x="6282000" y="3163680"/>
            <a:ext cx="553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Automated Hazard Alert System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Rectangle 33"/>
          <p:cNvSpPr/>
          <p:nvPr/>
        </p:nvSpPr>
        <p:spPr>
          <a:xfrm>
            <a:off x="6172200" y="3493080"/>
            <a:ext cx="5714640" cy="263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34"/>
          <p:cNvSpPr/>
          <p:nvPr/>
        </p:nvSpPr>
        <p:spPr>
          <a:xfrm>
            <a:off x="6282000" y="3566160"/>
            <a:ext cx="551340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Trigger: AQI &gt; 300 in last 1 hour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Checked every 30 minutes via node-cron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No repeat alert within 3 hours per city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Stored in alerts table with timestamp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buNone/>
            </a:pP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   </a:t>
            </a:r>
            <a:r>
              <a:rPr b="0" lang="en-US" sz="1150" spc="-1" strike="noStrike">
                <a:solidFill>
                  <a:srgbClr val="444444"/>
                </a:solidFill>
                <a:latin typeface="Calibri"/>
              </a:rPr>
              <a:t>Pulsing red badge shown on dashboard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System Testing Results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tests/test_api.js  |  27 / 27 Assertions Passing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7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9" name="Rectangle 7"/>
          <p:cNvSpPr/>
          <p:nvPr/>
        </p:nvSpPr>
        <p:spPr>
          <a:xfrm>
            <a:off x="274320" y="13716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Rectangle 8"/>
          <p:cNvSpPr/>
          <p:nvPr/>
        </p:nvSpPr>
        <p:spPr>
          <a:xfrm>
            <a:off x="274320" y="13716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TextBox 9"/>
          <p:cNvSpPr/>
          <p:nvPr/>
        </p:nvSpPr>
        <p:spPr>
          <a:xfrm>
            <a:off x="365760" y="14356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Health Check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365760" y="18288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3" name="Rectangle 11"/>
          <p:cNvSpPr/>
          <p:nvPr/>
        </p:nvSpPr>
        <p:spPr>
          <a:xfrm>
            <a:off x="3246120" y="13716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Rectangle 12"/>
          <p:cNvSpPr/>
          <p:nvPr/>
        </p:nvSpPr>
        <p:spPr>
          <a:xfrm>
            <a:off x="3246120" y="13716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TextBox 13"/>
          <p:cNvSpPr/>
          <p:nvPr/>
        </p:nvSpPr>
        <p:spPr>
          <a:xfrm>
            <a:off x="3337560" y="14356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Locations API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TextBox 14"/>
          <p:cNvSpPr/>
          <p:nvPr/>
        </p:nvSpPr>
        <p:spPr>
          <a:xfrm>
            <a:off x="3337560" y="18288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4 / 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7" name="Rectangle 15"/>
          <p:cNvSpPr/>
          <p:nvPr/>
        </p:nvSpPr>
        <p:spPr>
          <a:xfrm>
            <a:off x="6217920" y="13716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Rectangle 16"/>
          <p:cNvSpPr/>
          <p:nvPr/>
        </p:nvSpPr>
        <p:spPr>
          <a:xfrm>
            <a:off x="6217920" y="13716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TextBox 17"/>
          <p:cNvSpPr/>
          <p:nvPr/>
        </p:nvSpPr>
        <p:spPr>
          <a:xfrm>
            <a:off x="6309360" y="14356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Latest Readings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0" name="TextBox 18"/>
          <p:cNvSpPr/>
          <p:nvPr/>
        </p:nvSpPr>
        <p:spPr>
          <a:xfrm>
            <a:off x="6309360" y="18288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3 / 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1" name="Rectangle 19"/>
          <p:cNvSpPr/>
          <p:nvPr/>
        </p:nvSpPr>
        <p:spPr>
          <a:xfrm>
            <a:off x="9189720" y="13716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2" name="Rectangle 20"/>
          <p:cNvSpPr/>
          <p:nvPr/>
        </p:nvSpPr>
        <p:spPr>
          <a:xfrm>
            <a:off x="9189720" y="13716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3" name="TextBox 21"/>
          <p:cNvSpPr/>
          <p:nvPr/>
        </p:nvSpPr>
        <p:spPr>
          <a:xfrm>
            <a:off x="9281160" y="14356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Filtered Readings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4" name="TextBox 22"/>
          <p:cNvSpPr/>
          <p:nvPr/>
        </p:nvSpPr>
        <p:spPr>
          <a:xfrm>
            <a:off x="9281160" y="18288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5" name="Rectangle 23"/>
          <p:cNvSpPr/>
          <p:nvPr/>
        </p:nvSpPr>
        <p:spPr>
          <a:xfrm>
            <a:off x="274320" y="28530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6" name="Rectangle 24"/>
          <p:cNvSpPr/>
          <p:nvPr/>
        </p:nvSpPr>
        <p:spPr>
          <a:xfrm>
            <a:off x="274320" y="28530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TextBox 25"/>
          <p:cNvSpPr/>
          <p:nvPr/>
        </p:nvSpPr>
        <p:spPr>
          <a:xfrm>
            <a:off x="365760" y="29170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Daily Summary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TextBox 26"/>
          <p:cNvSpPr/>
          <p:nvPr/>
        </p:nvSpPr>
        <p:spPr>
          <a:xfrm>
            <a:off x="365760" y="33102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9" name="Rectangle 27"/>
          <p:cNvSpPr/>
          <p:nvPr/>
        </p:nvSpPr>
        <p:spPr>
          <a:xfrm>
            <a:off x="3246120" y="28530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Rectangle 28"/>
          <p:cNvSpPr/>
          <p:nvPr/>
        </p:nvSpPr>
        <p:spPr>
          <a:xfrm>
            <a:off x="3246120" y="28530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TextBox 29"/>
          <p:cNvSpPr/>
          <p:nvPr/>
        </p:nvSpPr>
        <p:spPr>
          <a:xfrm>
            <a:off x="3337560" y="29170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Hourly Average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2" name="TextBox 30"/>
          <p:cNvSpPr/>
          <p:nvPr/>
        </p:nvSpPr>
        <p:spPr>
          <a:xfrm>
            <a:off x="3337560" y="33102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3" name="Rectangle 31"/>
          <p:cNvSpPr/>
          <p:nvPr/>
        </p:nvSpPr>
        <p:spPr>
          <a:xfrm>
            <a:off x="6217920" y="28530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4" name="Rectangle 32"/>
          <p:cNvSpPr/>
          <p:nvPr/>
        </p:nvSpPr>
        <p:spPr>
          <a:xfrm>
            <a:off x="6217920" y="28530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TextBox 33"/>
          <p:cNvSpPr/>
          <p:nvPr/>
        </p:nvSpPr>
        <p:spPr>
          <a:xfrm>
            <a:off x="6309360" y="29170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Peak Hours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Box 34"/>
          <p:cNvSpPr/>
          <p:nvPr/>
        </p:nvSpPr>
        <p:spPr>
          <a:xfrm>
            <a:off x="6309360" y="33102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7" name="Rectangle 35"/>
          <p:cNvSpPr/>
          <p:nvPr/>
        </p:nvSpPr>
        <p:spPr>
          <a:xfrm>
            <a:off x="9189720" y="28530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Rectangle 36"/>
          <p:cNvSpPr/>
          <p:nvPr/>
        </p:nvSpPr>
        <p:spPr>
          <a:xfrm>
            <a:off x="9189720" y="28530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TextBox 37"/>
          <p:cNvSpPr/>
          <p:nvPr/>
        </p:nvSpPr>
        <p:spPr>
          <a:xfrm>
            <a:off x="9281160" y="291708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Category Breakdown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0" name="TextBox 38"/>
          <p:cNvSpPr/>
          <p:nvPr/>
        </p:nvSpPr>
        <p:spPr>
          <a:xfrm>
            <a:off x="9281160" y="33102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1" name="Rectangle 39"/>
          <p:cNvSpPr/>
          <p:nvPr/>
        </p:nvSpPr>
        <p:spPr>
          <a:xfrm>
            <a:off x="274320" y="43344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Rectangle 40"/>
          <p:cNvSpPr/>
          <p:nvPr/>
        </p:nvSpPr>
        <p:spPr>
          <a:xfrm>
            <a:off x="274320" y="43344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TextBox 41"/>
          <p:cNvSpPr/>
          <p:nvPr/>
        </p:nvSpPr>
        <p:spPr>
          <a:xfrm>
            <a:off x="365760" y="439812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Forecast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TextBox 42"/>
          <p:cNvSpPr/>
          <p:nvPr/>
        </p:nvSpPr>
        <p:spPr>
          <a:xfrm>
            <a:off x="365760" y="47916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3 / 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5" name="Rectangle 43"/>
          <p:cNvSpPr/>
          <p:nvPr/>
        </p:nvSpPr>
        <p:spPr>
          <a:xfrm>
            <a:off x="3246120" y="43344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Rectangle 44"/>
          <p:cNvSpPr/>
          <p:nvPr/>
        </p:nvSpPr>
        <p:spPr>
          <a:xfrm>
            <a:off x="3246120" y="43344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TextBox 45"/>
          <p:cNvSpPr/>
          <p:nvPr/>
        </p:nvSpPr>
        <p:spPr>
          <a:xfrm>
            <a:off x="3337560" y="439812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Alerts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8" name="TextBox 46"/>
          <p:cNvSpPr/>
          <p:nvPr/>
        </p:nvSpPr>
        <p:spPr>
          <a:xfrm>
            <a:off x="3337560" y="47916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9" name="Rectangle 47"/>
          <p:cNvSpPr/>
          <p:nvPr/>
        </p:nvSpPr>
        <p:spPr>
          <a:xfrm>
            <a:off x="6217920" y="43344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Rectangle 48"/>
          <p:cNvSpPr/>
          <p:nvPr/>
        </p:nvSpPr>
        <p:spPr>
          <a:xfrm>
            <a:off x="6217920" y="43344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1" name="TextBox 49"/>
          <p:cNvSpPr/>
          <p:nvPr/>
        </p:nvSpPr>
        <p:spPr>
          <a:xfrm>
            <a:off x="6309360" y="439812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Input Validation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TextBox 50"/>
          <p:cNvSpPr/>
          <p:nvPr/>
        </p:nvSpPr>
        <p:spPr>
          <a:xfrm>
            <a:off x="6309360" y="47916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2 /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33" name="Rectangle 51"/>
          <p:cNvSpPr/>
          <p:nvPr/>
        </p:nvSpPr>
        <p:spPr>
          <a:xfrm>
            <a:off x="9189720" y="4334400"/>
            <a:ext cx="2788560" cy="1325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4" name="Rectangle 52"/>
          <p:cNvSpPr/>
          <p:nvPr/>
        </p:nvSpPr>
        <p:spPr>
          <a:xfrm>
            <a:off x="9189720" y="4334400"/>
            <a:ext cx="2788560" cy="3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5" name="TextBox 53"/>
          <p:cNvSpPr/>
          <p:nvPr/>
        </p:nvSpPr>
        <p:spPr>
          <a:xfrm>
            <a:off x="9281160" y="4398120"/>
            <a:ext cx="2605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Real-Time Stream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TextBox 54"/>
          <p:cNvSpPr/>
          <p:nvPr/>
        </p:nvSpPr>
        <p:spPr>
          <a:xfrm>
            <a:off x="9281160" y="4791600"/>
            <a:ext cx="2605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Calibri"/>
              </a:rPr>
              <a:t>1 / 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37" name="Rectangle 55"/>
          <p:cNvSpPr/>
          <p:nvPr/>
        </p:nvSpPr>
        <p:spPr>
          <a:xfrm>
            <a:off x="274320" y="5943600"/>
            <a:ext cx="11612520" cy="529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TextBox 56"/>
          <p:cNvSpPr/>
          <p:nvPr/>
        </p:nvSpPr>
        <p:spPr>
          <a:xfrm>
            <a:off x="274320" y="6016680"/>
            <a:ext cx="116125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TOTAL:  27 / 27 Tests Passed     Zero failures     Includes simulated real-time sensor stream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0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Environmental Insights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Key findings from the dashboard analytics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4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5" name="Rectangle 7"/>
          <p:cNvSpPr/>
          <p:nvPr/>
        </p:nvSpPr>
        <p:spPr>
          <a:xfrm>
            <a:off x="274320" y="135324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6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Rectangle 8"/>
          <p:cNvSpPr/>
          <p:nvPr/>
        </p:nvSpPr>
        <p:spPr>
          <a:xfrm>
            <a:off x="274320" y="1353240"/>
            <a:ext cx="200880" cy="159084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7" name="TextBox 9"/>
          <p:cNvSpPr/>
          <p:nvPr/>
        </p:nvSpPr>
        <p:spPr>
          <a:xfrm>
            <a:off x="594360" y="144468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c62828"/>
                </a:solidFill>
                <a:latin typeface="Calibri"/>
              </a:rPr>
              <a:t>Most Polluted Cities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8" name="TextBox 10"/>
          <p:cNvSpPr/>
          <p:nvPr/>
        </p:nvSpPr>
        <p:spPr>
          <a:xfrm>
            <a:off x="594360" y="181044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Delhi, Noida and Gurugram show AQI in "Poor" to "Very Poor" range (201-400) consistently across the monitoring period.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9" name="Rectangle 11"/>
          <p:cNvSpPr/>
          <p:nvPr/>
        </p:nvSpPr>
        <p:spPr>
          <a:xfrm>
            <a:off x="6263640" y="135324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Rectangle 12"/>
          <p:cNvSpPr/>
          <p:nvPr/>
        </p:nvSpPr>
        <p:spPr>
          <a:xfrm>
            <a:off x="6263640" y="1353240"/>
            <a:ext cx="200880" cy="15908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TextBox 13"/>
          <p:cNvSpPr/>
          <p:nvPr/>
        </p:nvSpPr>
        <p:spPr>
          <a:xfrm>
            <a:off x="6583680" y="144468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e7d32"/>
                </a:solidFill>
                <a:latin typeface="Calibri"/>
              </a:rPr>
              <a:t>Cleanest Cities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TextBox 14"/>
          <p:cNvSpPr/>
          <p:nvPr/>
        </p:nvSpPr>
        <p:spPr>
          <a:xfrm>
            <a:off x="6583680" y="181044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Bengaluru and Chennai average in the "Moderate" category (101-200) with significantly more safe days per month.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3" name="Rectangle 15"/>
          <p:cNvSpPr/>
          <p:nvPr/>
        </p:nvSpPr>
        <p:spPr>
          <a:xfrm>
            <a:off x="274320" y="309060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Rectangle 16"/>
          <p:cNvSpPr/>
          <p:nvPr/>
        </p:nvSpPr>
        <p:spPr>
          <a:xfrm>
            <a:off x="274320" y="3090600"/>
            <a:ext cx="200880" cy="1590840"/>
          </a:xfrm>
          <a:prstGeom prst="rect">
            <a:avLst/>
          </a:prstGeom>
          <a:solidFill>
            <a:srgbClr val="e65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TextBox 17"/>
          <p:cNvSpPr/>
          <p:nvPr/>
        </p:nvSpPr>
        <p:spPr>
          <a:xfrm>
            <a:off x="594360" y="318204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65c00"/>
                </a:solidFill>
                <a:latin typeface="Calibri"/>
              </a:rPr>
              <a:t>Peak Pollution Hours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6" name="TextBox 18"/>
          <p:cNvSpPr/>
          <p:nvPr/>
        </p:nvSpPr>
        <p:spPr>
          <a:xfrm>
            <a:off x="594360" y="354780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AQI spikes observed during 6-9 AM and 7-10 PM correlating directly with vehicle traffic rush hours.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Rectangle 19"/>
          <p:cNvSpPr/>
          <p:nvPr/>
        </p:nvSpPr>
        <p:spPr>
          <a:xfrm>
            <a:off x="6263640" y="309060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Rectangle 20"/>
          <p:cNvSpPr/>
          <p:nvPr/>
        </p:nvSpPr>
        <p:spPr>
          <a:xfrm>
            <a:off x="6263640" y="3090600"/>
            <a:ext cx="200880" cy="159084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TextBox 21"/>
          <p:cNvSpPr/>
          <p:nvPr/>
        </p:nvSpPr>
        <p:spPr>
          <a:xfrm>
            <a:off x="6583680" y="318204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a73e8"/>
                </a:solidFill>
                <a:latin typeface="Calibri"/>
              </a:rPr>
              <a:t>Key Pollutant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0" name="TextBox 22"/>
          <p:cNvSpPr/>
          <p:nvPr/>
        </p:nvSpPr>
        <p:spPr>
          <a:xfrm>
            <a:off x="6583680" y="354780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PM2.5 is the dominant contributor to high AQI across all cities, driven by vehicular and industrial emissions.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1" name="Rectangle 23"/>
          <p:cNvSpPr/>
          <p:nvPr/>
        </p:nvSpPr>
        <p:spPr>
          <a:xfrm>
            <a:off x="274320" y="482796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2" name="Rectangle 24"/>
          <p:cNvSpPr/>
          <p:nvPr/>
        </p:nvSpPr>
        <p:spPr>
          <a:xfrm>
            <a:off x="274320" y="4827960"/>
            <a:ext cx="200880" cy="159084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TextBox 25"/>
          <p:cNvSpPr/>
          <p:nvPr/>
        </p:nvSpPr>
        <p:spPr>
          <a:xfrm>
            <a:off x="594360" y="491940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6a1b9a"/>
                </a:solidFill>
                <a:latin typeface="Calibri"/>
              </a:rPr>
              <a:t>Seasonal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TextBox 26"/>
          <p:cNvSpPr/>
          <p:nvPr/>
        </p:nvSpPr>
        <p:spPr>
          <a:xfrm>
            <a:off x="594360" y="528516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Winter months record higher AQI values due to temperature inversion trapping pollutants near ground level.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5" name="Rectangle 27"/>
          <p:cNvSpPr/>
          <p:nvPr/>
        </p:nvSpPr>
        <p:spPr>
          <a:xfrm>
            <a:off x="6263640" y="4827960"/>
            <a:ext cx="5760360" cy="1590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6" name="Rectangle 28"/>
          <p:cNvSpPr/>
          <p:nvPr/>
        </p:nvSpPr>
        <p:spPr>
          <a:xfrm>
            <a:off x="6263640" y="4827960"/>
            <a:ext cx="200880" cy="15908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TextBox 29"/>
          <p:cNvSpPr/>
          <p:nvPr/>
        </p:nvSpPr>
        <p:spPr>
          <a:xfrm>
            <a:off x="6583680" y="4919400"/>
            <a:ext cx="53031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b2a4a"/>
                </a:solidFill>
                <a:latin typeface="Calibri"/>
              </a:rPr>
              <a:t>Hazardous Events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8" name="TextBox 30"/>
          <p:cNvSpPr/>
          <p:nvPr/>
        </p:nvSpPr>
        <p:spPr>
          <a:xfrm>
            <a:off x="6583680" y="5285160"/>
            <a:ext cx="53031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444444"/>
                </a:solidFill>
                <a:latin typeface="Calibri"/>
              </a:rPr>
              <a:t>AQI &gt; 300 events are concentrated in northern cities (Delhi, Gurugram, Noida) during November to January.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0" y="0"/>
            <a:ext cx="12188520" cy="1142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Rectangle 2"/>
          <p:cNvSpPr/>
          <p:nvPr/>
        </p:nvSpPr>
        <p:spPr>
          <a:xfrm>
            <a:off x="0" y="1143000"/>
            <a:ext cx="12188520" cy="5436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1" name="TextBox 3"/>
          <p:cNvSpPr/>
          <p:nvPr/>
        </p:nvSpPr>
        <p:spPr>
          <a:xfrm>
            <a:off x="320040" y="1098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Deliverables &amp; Conclusion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72" name="TextBox 4"/>
          <p:cNvSpPr/>
          <p:nvPr/>
        </p:nvSpPr>
        <p:spPr>
          <a:xfrm>
            <a:off x="320040" y="804600"/>
            <a:ext cx="11521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b0c8e8"/>
                </a:solidFill>
                <a:latin typeface="Calibri"/>
              </a:rPr>
              <a:t>All 14 requirements fulfilled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3" name="Rectangle 5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TextBox 6"/>
          <p:cNvSpPr/>
          <p:nvPr/>
        </p:nvSpPr>
        <p:spPr>
          <a:xfrm>
            <a:off x="182880" y="6510600"/>
            <a:ext cx="1179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0a0c0"/>
                </a:solidFill>
                <a:latin typeface="Calibri"/>
              </a:rPr>
              <a:t>Air Quality Monitoring Dashboard  |  Plag Pro, Noida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5" name="Rectangle 7"/>
          <p:cNvSpPr/>
          <p:nvPr/>
        </p:nvSpPr>
        <p:spPr>
          <a:xfrm>
            <a:off x="274320" y="137160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TextBox 8"/>
          <p:cNvSpPr/>
          <p:nvPr/>
        </p:nvSpPr>
        <p:spPr>
          <a:xfrm>
            <a:off x="274320" y="141732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7" name="Rectangle 9"/>
          <p:cNvSpPr/>
          <p:nvPr/>
        </p:nvSpPr>
        <p:spPr>
          <a:xfrm>
            <a:off x="621720" y="137160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8" name="TextBox 10"/>
          <p:cNvSpPr/>
          <p:nvPr/>
        </p:nvSpPr>
        <p:spPr>
          <a:xfrm>
            <a:off x="731520" y="145404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Cleaned dataset CSV  —  data/sample/air_quality_sample.csv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9" name="Rectangle 11"/>
          <p:cNvSpPr/>
          <p:nvPr/>
        </p:nvSpPr>
        <p:spPr>
          <a:xfrm>
            <a:off x="6217920" y="137160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TextBox 12"/>
          <p:cNvSpPr/>
          <p:nvPr/>
        </p:nvSpPr>
        <p:spPr>
          <a:xfrm>
            <a:off x="6217920" y="141732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1" name="Rectangle 13"/>
          <p:cNvSpPr/>
          <p:nvPr/>
        </p:nvSpPr>
        <p:spPr>
          <a:xfrm>
            <a:off x="6565320" y="137160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TextBox 14"/>
          <p:cNvSpPr/>
          <p:nvPr/>
        </p:nvSpPr>
        <p:spPr>
          <a:xfrm>
            <a:off x="6675120" y="145404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ETL Pipeline  —  data/etl_import.js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Rectangle 15"/>
          <p:cNvSpPr/>
          <p:nvPr/>
        </p:nvSpPr>
        <p:spPr>
          <a:xfrm>
            <a:off x="274320" y="189288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TextBox 16"/>
          <p:cNvSpPr/>
          <p:nvPr/>
        </p:nvSpPr>
        <p:spPr>
          <a:xfrm>
            <a:off x="274320" y="193860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5" name="Rectangle 17"/>
          <p:cNvSpPr/>
          <p:nvPr/>
        </p:nvSpPr>
        <p:spPr>
          <a:xfrm>
            <a:off x="621720" y="189288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TextBox 18"/>
          <p:cNvSpPr/>
          <p:nvPr/>
        </p:nvSpPr>
        <p:spPr>
          <a:xfrm>
            <a:off x="731520" y="197496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ER Diagram  —  docs/er_diagram.html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7" name="Rectangle 19"/>
          <p:cNvSpPr/>
          <p:nvPr/>
        </p:nvSpPr>
        <p:spPr>
          <a:xfrm>
            <a:off x="6217920" y="189288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TextBox 20"/>
          <p:cNvSpPr/>
          <p:nvPr/>
        </p:nvSpPr>
        <p:spPr>
          <a:xfrm>
            <a:off x="6217920" y="193860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9" name="Rectangle 21"/>
          <p:cNvSpPr/>
          <p:nvPr/>
        </p:nvSpPr>
        <p:spPr>
          <a:xfrm>
            <a:off x="6565320" y="189288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0" name="TextBox 22"/>
          <p:cNvSpPr/>
          <p:nvPr/>
        </p:nvSpPr>
        <p:spPr>
          <a:xfrm>
            <a:off x="6675120" y="197496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SQL Schema  —  database/migrations/001_create_tables.sql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1" name="Rectangle 23"/>
          <p:cNvSpPr/>
          <p:nvPr/>
        </p:nvSpPr>
        <p:spPr>
          <a:xfrm>
            <a:off x="274320" y="241416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TextBox 24"/>
          <p:cNvSpPr/>
          <p:nvPr/>
        </p:nvSpPr>
        <p:spPr>
          <a:xfrm>
            <a:off x="274320" y="245988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3" name="Rectangle 25"/>
          <p:cNvSpPr/>
          <p:nvPr/>
        </p:nvSpPr>
        <p:spPr>
          <a:xfrm>
            <a:off x="621720" y="241416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TextBox 26"/>
          <p:cNvSpPr/>
          <p:nvPr/>
        </p:nvSpPr>
        <p:spPr>
          <a:xfrm>
            <a:off x="731520" y="249624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REST API (11 endpoints)  —  backend/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5" name="Rectangle 27"/>
          <p:cNvSpPr/>
          <p:nvPr/>
        </p:nvSpPr>
        <p:spPr>
          <a:xfrm>
            <a:off x="6217920" y="241416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TextBox 28"/>
          <p:cNvSpPr/>
          <p:nvPr/>
        </p:nvSpPr>
        <p:spPr>
          <a:xfrm>
            <a:off x="6217920" y="245988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7" name="Rectangle 29"/>
          <p:cNvSpPr/>
          <p:nvPr/>
        </p:nvSpPr>
        <p:spPr>
          <a:xfrm>
            <a:off x="6565320" y="241416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8" name="TextBox 30"/>
          <p:cNvSpPr/>
          <p:nvPr/>
        </p:nvSpPr>
        <p:spPr>
          <a:xfrm>
            <a:off x="6675120" y="249624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Interactive Dashboard (6 charts)  —  frontend/index.html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9" name="Rectangle 31"/>
          <p:cNvSpPr/>
          <p:nvPr/>
        </p:nvSpPr>
        <p:spPr>
          <a:xfrm>
            <a:off x="274320" y="293508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TextBox 32"/>
          <p:cNvSpPr/>
          <p:nvPr/>
        </p:nvSpPr>
        <p:spPr>
          <a:xfrm>
            <a:off x="274320" y="298080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1" name="Rectangle 33"/>
          <p:cNvSpPr/>
          <p:nvPr/>
        </p:nvSpPr>
        <p:spPr>
          <a:xfrm>
            <a:off x="621720" y="293508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2" name="TextBox 34"/>
          <p:cNvSpPr/>
          <p:nvPr/>
        </p:nvSpPr>
        <p:spPr>
          <a:xfrm>
            <a:off x="731520" y="301752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Forecasting Model  —  forecastController.js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3" name="Rectangle 35"/>
          <p:cNvSpPr/>
          <p:nvPr/>
        </p:nvSpPr>
        <p:spPr>
          <a:xfrm>
            <a:off x="6217920" y="293508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4" name="TextBox 36"/>
          <p:cNvSpPr/>
          <p:nvPr/>
        </p:nvSpPr>
        <p:spPr>
          <a:xfrm>
            <a:off x="6217920" y="298080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5" name="Rectangle 37"/>
          <p:cNvSpPr/>
          <p:nvPr/>
        </p:nvSpPr>
        <p:spPr>
          <a:xfrm>
            <a:off x="6565320" y="293508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TextBox 38"/>
          <p:cNvSpPr/>
          <p:nvPr/>
        </p:nvSpPr>
        <p:spPr>
          <a:xfrm>
            <a:off x="6675120" y="301752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Alert System  —  alertController.js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7" name="Rectangle 39"/>
          <p:cNvSpPr/>
          <p:nvPr/>
        </p:nvSpPr>
        <p:spPr>
          <a:xfrm>
            <a:off x="274320" y="345636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8" name="TextBox 40"/>
          <p:cNvSpPr/>
          <p:nvPr/>
        </p:nvSpPr>
        <p:spPr>
          <a:xfrm>
            <a:off x="274320" y="350208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9" name="Rectangle 41"/>
          <p:cNvSpPr/>
          <p:nvPr/>
        </p:nvSpPr>
        <p:spPr>
          <a:xfrm>
            <a:off x="621720" y="345636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TextBox 42"/>
          <p:cNvSpPr/>
          <p:nvPr/>
        </p:nvSpPr>
        <p:spPr>
          <a:xfrm>
            <a:off x="731520" y="353880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Test Suite 27/27  —  tests/test_api.js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1" name="Rectangle 43"/>
          <p:cNvSpPr/>
          <p:nvPr/>
        </p:nvSpPr>
        <p:spPr>
          <a:xfrm>
            <a:off x="6217920" y="345636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TextBox 44"/>
          <p:cNvSpPr/>
          <p:nvPr/>
        </p:nvSpPr>
        <p:spPr>
          <a:xfrm>
            <a:off x="6217920" y="350208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3" name="Rectangle 45"/>
          <p:cNvSpPr/>
          <p:nvPr/>
        </p:nvSpPr>
        <p:spPr>
          <a:xfrm>
            <a:off x="6565320" y="345636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4" name="TextBox 46"/>
          <p:cNvSpPr/>
          <p:nvPr/>
        </p:nvSpPr>
        <p:spPr>
          <a:xfrm>
            <a:off x="6675120" y="353880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PDF Report  —  docs/AirQuality_Project_Report.pdf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5" name="Rectangle 47"/>
          <p:cNvSpPr/>
          <p:nvPr/>
        </p:nvSpPr>
        <p:spPr>
          <a:xfrm>
            <a:off x="274320" y="397764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TextBox 48"/>
          <p:cNvSpPr/>
          <p:nvPr/>
        </p:nvSpPr>
        <p:spPr>
          <a:xfrm>
            <a:off x="274320" y="402336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7" name="Rectangle 49"/>
          <p:cNvSpPr/>
          <p:nvPr/>
        </p:nvSpPr>
        <p:spPr>
          <a:xfrm>
            <a:off x="621720" y="397764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8" name="TextBox 50"/>
          <p:cNvSpPr/>
          <p:nvPr/>
        </p:nvSpPr>
        <p:spPr>
          <a:xfrm>
            <a:off x="731520" y="406008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PPT Presentation  —  docs/AirQuality_Presentation.pptx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9" name="Rectangle 51"/>
          <p:cNvSpPr/>
          <p:nvPr/>
        </p:nvSpPr>
        <p:spPr>
          <a:xfrm>
            <a:off x="6217920" y="3977640"/>
            <a:ext cx="347040" cy="3837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TextBox 52"/>
          <p:cNvSpPr/>
          <p:nvPr/>
        </p:nvSpPr>
        <p:spPr>
          <a:xfrm>
            <a:off x="6217920" y="4023360"/>
            <a:ext cx="347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1" name="Rectangle 53"/>
          <p:cNvSpPr/>
          <p:nvPr/>
        </p:nvSpPr>
        <p:spPr>
          <a:xfrm>
            <a:off x="6565320" y="3977640"/>
            <a:ext cx="5486040" cy="383760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2" name="TextBox 54"/>
          <p:cNvSpPr/>
          <p:nvPr/>
        </p:nvSpPr>
        <p:spPr>
          <a:xfrm>
            <a:off x="6675120" y="4060080"/>
            <a:ext cx="5257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1b2a4a"/>
                </a:solidFill>
                <a:latin typeface="Calibri"/>
              </a:rPr>
              <a:t>System Architecture Doc  —  docs/SYSTEM_ARCHITECTURE.md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3" name="Rectangle 55"/>
          <p:cNvSpPr/>
          <p:nvPr/>
        </p:nvSpPr>
        <p:spPr>
          <a:xfrm>
            <a:off x="274320" y="5870520"/>
            <a:ext cx="11612520" cy="5299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TextBox 56"/>
          <p:cNvSpPr/>
          <p:nvPr/>
        </p:nvSpPr>
        <p:spPr>
          <a:xfrm>
            <a:off x="457200" y="59436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Complete production-quality platform covering all 14 requirements with full test coverage.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6" name="TextBox 2"/>
          <p:cNvSpPr/>
          <p:nvPr/>
        </p:nvSpPr>
        <p:spPr>
          <a:xfrm>
            <a:off x="0" y="1463040"/>
            <a:ext cx="1218852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8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5800" spc="-1" strike="noStrike">
              <a:latin typeface="Arial"/>
            </a:endParaRPr>
          </a:p>
        </p:txBody>
      </p:sp>
      <p:sp>
        <p:nvSpPr>
          <p:cNvPr id="427" name="Rectangle 3"/>
          <p:cNvSpPr/>
          <p:nvPr/>
        </p:nvSpPr>
        <p:spPr>
          <a:xfrm>
            <a:off x="0" y="3657600"/>
            <a:ext cx="12188520" cy="36360"/>
          </a:xfrm>
          <a:prstGeom prst="rect">
            <a:avLst/>
          </a:prstGeom>
          <a:solidFill>
            <a:srgbClr val="00b0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TextBox 4"/>
          <p:cNvSpPr/>
          <p:nvPr/>
        </p:nvSpPr>
        <p:spPr>
          <a:xfrm>
            <a:off x="457200" y="3840480"/>
            <a:ext cx="112741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00b0d8"/>
                </a:solidFill>
                <a:latin typeface="Calibri"/>
              </a:rPr>
              <a:t>Air Quality Monitoring &amp; Pollution Trend Visualization Dashboard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2026-05-28T12:17:46Z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